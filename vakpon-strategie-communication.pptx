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ganvie-la-cite-lacustre-au-coucher-du-sole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85432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85432" y="0"/>
            <a:ext cx="5303520" cy="6858000"/>
          </a:xfrm>
          <a:prstGeom prst="rect">
            <a:avLst/>
          </a:prstGeom>
          <a:solidFill>
            <a:srgbClr val="0F0F0D">
              <a:alpha val="65000"/>
            </a:srgbClr>
          </a:solidFill>
          <a:ln/>
        </p:spPr>
      </p:sp>
      <p:pic>
        <p:nvPicPr>
          <p:cNvPr id="4" name="Image 1" descr="/home/claude/pptx-build/assets/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377440" cy="2423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148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COMMUNICATION — 7 MOIS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60604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Construire une communauté,
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recruter au-delà des frontières,
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F9A5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vendre le Bénin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Belgique · Allemagne — et au-delà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TikTok · Facebook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outil de vente prêt, une audience à construire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site qui vend déjà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en ligne fonctionnelle, espace client, back-office CRM — l'infrastructure de conversion existe.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EAF7F0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offres structurées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une offre spéciale à durée limitée, prêtes à être racontées en contenu plutôt qu'en argumentaire.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Une présence sociale naissante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comptes ouverts (Instagram, TikTok, Facebook) sans communauté installée à ce jour.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 des 7 prochains mois : </a:t>
            </a:r>
            <a:pPr indent="0" marL="0"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une audience froide et dispersée en communauté chaude qui réserve — pas seulement en abonnés.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 que l'on mesure à 7 mois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Notoriété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4144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d'une présence invisible à une audience identifiable sur Instagram et TikTok, les deux moteurs de découverte actuels.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560320"/>
            <a:ext cx="502920" cy="50292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Communauté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4144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noyau d'abonnés engagés (commentaires, partages, DM) plutôt qu'un chiffre gonflé et passif.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24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Prospection géographique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9028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active en France et Belgique dès le mois 2, ouverture du marché allemand à partir du mois 4.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709160"/>
            <a:ext cx="502920" cy="50292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224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Ventes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59028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de réservation du site comme destination finale de tout contenu, avec suivi mesurable par trimestre.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Trois profils, trois approches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F9A5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76272"/>
            <a:ext cx="3566160" cy="246888"/>
          </a:xfrm>
          <a:prstGeom prst="rect">
            <a:avLst/>
          </a:prstGeom>
          <a:solidFill>
            <a:srgbClr val="0F9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BELGIQUE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Diaspora béninoise &amp; africaine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émotionnel fort (racines, mémoire, famille) — déjà convaincue de la destination. Le frein est logistique, pas affectif. C'est la cible la plus facile à convertir en premier.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0C4D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920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C4DA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176272"/>
            <a:ext cx="3566160" cy="246888"/>
          </a:xfrm>
          <a:prstGeom prst="rect">
            <a:avLst/>
          </a:prstGeom>
          <a:solidFill>
            <a:srgbClr val="0C4D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BELGIQUE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Voyageur francophone curieux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4747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allé au Bénin. Doit être éduqué sur ce que le pays offre — Vodoun, Ganvié, Abomey — avant de penser réservation. Travail de désirabilité, pas de vente directe.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0F0F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920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F0F0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176272"/>
            <a:ext cx="3566160" cy="246888"/>
          </a:xfrm>
          <a:prstGeom prst="rect">
            <a:avLst/>
          </a:prstGeom>
          <a:solidFill>
            <a:srgbClr val="0F0F0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Voyageur germanophone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4747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différent : motivé par l'authenticité, la nature, la traçabilité de l'expérience plutôt que le lien affectif. Nécessite une approche et une langue dédiées.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danseur-costume-lors-d-une-ceremonie-culturel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0F0D">
              <a:alpha val="8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212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92024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« Le Bénin comme vous ne l'avez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jamais vu — 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6FD9A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vécu de l'intérieur,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6FD9A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pas visité de l'extérieur.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»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45720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contenu raconte une expérience vécue — une cérémonie, une rencontre, un lever de soleil à Ganvié — jamais un argumentaire commercial. Les tarifs et l'offre spéciale n'apparaissent qu'en fin de parcours, jamais en ouverture.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Quatre phases sur 7 mois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05940" y="3566160"/>
            <a:ext cx="8311896" cy="0"/>
          </a:xfrm>
          <a:prstGeom prst="line">
            <a:avLst/>
          </a:prstGeom>
          <a:noFill/>
          <a:ln w="25400">
            <a:solidFill>
              <a:srgbClr val="E8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084832"/>
            <a:ext cx="594360" cy="59436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Fondation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1–2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9272" y="237744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0C4D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2084832"/>
            <a:ext cx="594360" cy="59436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79392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Traction organique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2–4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9904" y="237744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0024" y="2084832"/>
            <a:ext cx="594360" cy="59436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50024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Allemagne &amp; payant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4–6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60536" y="237744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0C4D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0656" y="2084832"/>
            <a:ext cx="594360" cy="59436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0656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Communauté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043416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6–7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volontairement séquentielle : on ne teste pas trois marchés et trois langues en même temps — on prouve d'abord ce qui engage en France/Belgique, puis on le duplique.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F9A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1–2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Fondation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AF7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— </a:t>
            </a:r>
            <a:pPr indent="0" marL="0"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exister visuellement et poser les bases avant de dépenser en publicité.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Harmoniser bio, visuels et liens des trois comptes ; mettre l'offre spéciale à la une des stories.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3697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Constituer une bibliothèque de contenu à partir des photos réelles déjà utilisées sur le site, en parallèle du tournage vidéo (smartphone suffit — l'authenticité prime sur la production léchée).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3250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les six piliers de contenu en alternance (héritage, spiritualité, vie lacustre, nature, coulisses, sur-mesure) sans encore pousser l'offre spéciale.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28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canal WhatsApp Business dès le premier mois — c'est là que la diaspora finalise réellement une conversation de vente.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C4D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2–4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Traction organique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— </a:t>
            </a:r>
            <a:pPr indent="0" marL="0"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l'engagement avant de l'acheter.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en cadence vidéo (Reels/TikTok) : accroche dans les 3 premières secondes, sous-titres systématiques, images réelles uniquement.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3697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des partenariats avec des micro-créateurs de la diaspora (5 000–50 000 abonnés) en échange d'un voyage presse ou d'une commission.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3250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imposer un hashtag de marque pour construire un patrimoine de contenu généré par les clients.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28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vrai test de conversion avec l'offre spéciale : compte à rebours, post épinglé, relance WhatsApp des prospects identifiés.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742432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champ « Comment nous avez-vous connu ? » au formulaire de réservation pour mesurer objectivement quelle plateforme convertit.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F9A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4–6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Allemagne &amp; accélération payante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AF7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— </a:t>
            </a:r>
            <a:pPr indent="0" marL="0"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dupliquer ce qui marche, ne pas repartir de zéro.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Décliner en allemand (ou en anglais comme langue-pont) les formats déjà éprouvés en France/Belgique — sous-titres d'abord, contenu natif ensuite.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3697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marché allemand : mettre en avant Pendjari, l'écotourisme et la traçabilité plutôt que la mémoire et les racines.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3250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Meta Ads une fois les contenus organiques validés — cibler en priorité des audiences similaires construites à partir des clients déjà réservés dans le CRM.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28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test sur 60 jours, mesuré uniquement sur le coût par réservation réelle — pas par clic ni par like.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C4D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6–7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Communauté &amp; fidélisation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— </a:t>
            </a:r>
            <a:pPr indent="0" marL="0">
              <a:buNone/>
            </a:pPr>
            <a:r>
              <a:rPr lang="en-US" sz="12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les clients deviennent les meilleurs vendeurs.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 chaque client passé via l'espace client et le CRM pour obtenir avis, photos et témoignages vidéo.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3697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statut « ambassadeur » informel (réduction sur un prochain voyage contre contenu ou parrainage), appuyé sur les tags CRM déjà en place.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3250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groupe Facebook pour la diaspora et les anciens voyageurs — un espace d'échange, pas seulement une page à sens unique.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28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6 premiers mois : quel marché, quelle plateforme, quel pilier a réellement généré des réservations — et réallocation du budget en conséquence.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rôle de chaque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AFAF8"/>
          </a:solidFill>
          <a:ln w="9525">
            <a:solidFill>
              <a:srgbClr val="E8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Instagram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87452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principale — Reels et stories quotidiennes, carrousels type guides pratiques.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8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791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TikTok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67919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brute et spontanée du même contenu — le plus fort en engagement et découverte pure.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AFAF8"/>
          </a:solidFill>
          <a:ln w="9525">
            <a:solidFill>
              <a:srgbClr val="E8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8386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Facebook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3483864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diaspora et Belgique — groupes et discussions longues plutôt que du contenu court.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8E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98264"/>
            <a:ext cx="457200" cy="45720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88536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WhatsApp Business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288536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canal de diffusion : l'outil de conversion réel, one-to-one.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AFAF8"/>
          </a:solidFill>
          <a:ln w="9525">
            <a:solidFill>
              <a:srgbClr val="E8E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09320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YouTube (dès le mois 3)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5093208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 deux formats longs, contenus de référence durables et référencés dans le temps.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 réseau social à la réservation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14600" y="3246120"/>
            <a:ext cx="256032" cy="0"/>
          </a:xfrm>
          <a:prstGeom prst="line">
            <a:avLst/>
          </a:prstGeom>
          <a:noFill/>
          <a:ln w="19050">
            <a:solidFill>
              <a:srgbClr val="65635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3020" y="2578608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30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Découverte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Reels, TikTok,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3246120"/>
            <a:ext cx="256032" cy="0"/>
          </a:xfrm>
          <a:prstGeom prst="line">
            <a:avLst/>
          </a:prstGeom>
          <a:noFill/>
          <a:ln w="19050">
            <a:solidFill>
              <a:srgbClr val="6563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0632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C4D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5012" y="2578608"/>
            <a:ext cx="457200" cy="45720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501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62072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Intérêt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62072" y="3493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WhatsApp,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58584" y="3246120"/>
            <a:ext cx="256032" cy="0"/>
          </a:xfrm>
          <a:prstGeom prst="line">
            <a:avLst/>
          </a:prstGeom>
          <a:noFill/>
          <a:ln w="19050">
            <a:solidFill>
              <a:srgbClr val="6563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92624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7004" y="2578608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47004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Réservation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84064" y="3493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0576" y="3246120"/>
            <a:ext cx="256032" cy="0"/>
          </a:xfrm>
          <a:prstGeom prst="line">
            <a:avLst/>
          </a:prstGeom>
          <a:noFill/>
          <a:ln w="19050">
            <a:solidFill>
              <a:srgbClr val="6563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14616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C4D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68996" y="2578608"/>
            <a:ext cx="457200" cy="45720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6899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06056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Suivi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06056" y="3493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&amp;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36608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F9A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0988" y="2578608"/>
            <a:ext cx="457200" cy="45720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9098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Fidélité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528048" y="3493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ambassadeur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7F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4709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mesure clé 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« Comment nous avez-vous connu ? » sur le formulaire de réservation, croisé avec les tags CRM du back-office. C'est la seule façon de savoir objectivement quelle plateforme génère des réservations réelles — pas seulement des likes.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rituel mensuel, trois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Qu'est-ce qui a le plus engagé 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Reels, stories et posts par taux d'engagement réel (commentaires, partages, DM).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0C4D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26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Qu'est-ce qui a généré des réservations ?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du champ de tracking et des tags CRM — au-delà des likes, ce qui a réellement converti.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AFAF8"/>
          </a:solidFill>
          <a:ln w="12700">
            <a:solidFill>
              <a:srgbClr val="E8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0F9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926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0F0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Qu'est-ce qu'on arrête, qu'est-ce qu'on double ?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Réallocation du temps et du budget vers ce qui fonctionne, sans attachement à ce qui ne convertit pas.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 rituel, la stratégie devient un calendrier de publication sans direction.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-build/assets/offre-speciale-vakpon-tours-route-des-esclaves-et-plage-de-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D">
              <a:alpha val="70000"/>
            </a:srgbClr>
          </a:solidFill>
          <a:ln/>
        </p:spPr>
      </p:sp>
      <p:pic>
        <p:nvPicPr>
          <p:cNvPr id="4" name="Image 1" descr="/home/claude/pptx-build/assets/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2240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1089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1 : harmoniser les trois comptes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et publier le premier lot de contenu.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Vakpon Tours — Un monde de splendeurs vous attend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2026-09-02T21:35:19Z</dcterms:created>
  <dcterms:modified xsi:type="dcterms:W3CDTF">2026-09-02T21:35:19Z</dcterms:modified>
</cp:coreProperties>
</file>